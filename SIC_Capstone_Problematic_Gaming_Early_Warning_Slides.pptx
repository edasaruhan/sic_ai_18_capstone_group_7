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A8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 CAPSTONE IDEA PROPOSAL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Problematic Gaming Early Warning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early gaming behavior patterns predict a future increase in problematic gaming symptoms?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A8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playtime alone may not reflect changes in gaming behavior over time.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Problematic gaming may depend on patterns of play, not only total hours.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640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we want to examine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257800" y="132588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13832" y="1581912"/>
            <a:ext cx="603504" cy="603504"/>
          </a:xfrm>
          <a:prstGeom prst="ellipse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4708" y="1732788"/>
            <a:ext cx="301752" cy="30175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513832" y="2286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frequency and active days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22792" y="132588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878824" y="1581912"/>
            <a:ext cx="603504" cy="603504"/>
          </a:xfrm>
          <a:prstGeom prst="ellipse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1732788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878824" y="2286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or extended play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257800" y="315468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13832" y="3410712"/>
            <a:ext cx="603504" cy="603504"/>
          </a:xfrm>
          <a:prstGeom prst="ellipse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708" y="3561588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513832" y="4114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gaming days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622792" y="315468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878824" y="3410712"/>
            <a:ext cx="603504" cy="603504"/>
          </a:xfrm>
          <a:prstGeom prst="ellipse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0" y="3561588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878824" y="4114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/ overnight play where available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257800" y="5074920"/>
            <a:ext cx="6473952" cy="1188720"/>
          </a:xfrm>
          <a:prstGeom prst="roundRect">
            <a:avLst>
              <a:gd name="adj" fmla="val 9231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532120" y="5394960"/>
            <a:ext cx="548640" cy="548640"/>
          </a:xfrm>
          <a:prstGeom prst="ellipse">
            <a:avLst/>
          </a:prstGeom>
          <a:solidFill>
            <a:srgbClr val="F25C2A"/>
          </a:solidFill>
          <a:ln w="12700">
            <a:solidFill>
              <a:srgbClr val="F25C2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553212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355080" y="5257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4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 opportunity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355080" y="5577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Play authors explicitly identify irregular, extended, and overnight play as potential early-warning signals for later problematic play.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4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INNOVATIVE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explainable early-warning model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real gaming behavior, from raw play data to the patterns behind each prediction.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13355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057400"/>
            <a:ext cx="548640" cy="548640"/>
          </a:xfrm>
          <a:prstGeom prst="ellipse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10435" y="20299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2156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017520"/>
            <a:ext cx="21561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gaming behavior across time.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563" y="2674620"/>
            <a:ext cx="146304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44875" y="1828800"/>
            <a:ext cx="2613355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73475" y="2057400"/>
            <a:ext cx="548640" cy="548640"/>
          </a:xfrm>
          <a:prstGeom prst="ellipse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635" y="21945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98110" y="20299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3573475" y="2697480"/>
            <a:ext cx="2156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573475" y="3017520"/>
            <a:ext cx="21561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behavioral features from play patterns.</a:t>
            </a:r>
            <a:endParaRPr lang="en-US" sz="1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238" y="2674620"/>
            <a:ext cx="146304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32550" y="1828800"/>
            <a:ext cx="2613355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61150" y="2057400"/>
            <a:ext cx="548640" cy="548640"/>
          </a:xfrm>
          <a:prstGeom prst="ellipse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310" y="21945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885786" y="20299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16"/>
          <p:cNvSpPr txBox="1"/>
          <p:nvPr/>
        </p:nvSpPr>
        <p:spPr>
          <a:xfrm>
            <a:off x="6461150" y="2697480"/>
            <a:ext cx="2156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461150" y="3017520"/>
            <a:ext cx="21561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later problematic-gaming symptoms.</a:t>
            </a:r>
            <a:endParaRPr lang="en-US" sz="12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9914" y="2674620"/>
            <a:ext cx="146304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120226" y="1828800"/>
            <a:ext cx="2613355" cy="1965960"/>
          </a:xfrm>
          <a:prstGeom prst="roundRect">
            <a:avLst>
              <a:gd name="adj" fmla="val 5581"/>
            </a:avLst>
          </a:prstGeom>
          <a:solidFill>
            <a:srgbClr val="F25C2A"/>
          </a:solidFill>
          <a:ln w="12700">
            <a:solidFill>
              <a:srgbClr val="F25C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348826" y="2057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5986" y="219456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773461" y="20299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BC4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1"/>
          <p:cNvSpPr txBox="1"/>
          <p:nvPr/>
        </p:nvSpPr>
        <p:spPr>
          <a:xfrm>
            <a:off x="9348826" y="2697480"/>
            <a:ext cx="2156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9348826" y="3017520"/>
            <a:ext cx="21561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 / feature importance to show what drove the prediction.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457200" y="3950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behavioral features</a:t>
            </a:r>
            <a:endParaRPr lang="en-US" sz="2000" dirty="0"/>
          </a:p>
        </p:txBody>
      </p:sp>
      <p:sp>
        <p:nvSpPr>
          <p:cNvPr id="33" name="Shape 24"/>
          <p:cNvSpPr/>
          <p:nvPr/>
        </p:nvSpPr>
        <p:spPr>
          <a:xfrm>
            <a:off x="457200" y="4361688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25"/>
          <p:cNvSpPr txBox="1"/>
          <p:nvPr/>
        </p:nvSpPr>
        <p:spPr>
          <a:xfrm>
            <a:off x="685800" y="4480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4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704088" y="4837176"/>
            <a:ext cx="100584" cy="100584"/>
          </a:xfrm>
          <a:prstGeom prst="ellipse">
            <a:avLst/>
          </a:prstGeom>
          <a:solidFill>
            <a:srgbClr val="F25C2A"/>
          </a:solidFill>
          <a:ln w="12700">
            <a:solidFill>
              <a:srgbClr val="F25C2A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914400" y="4754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frequency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704088" y="5129784"/>
            <a:ext cx="100584" cy="100584"/>
          </a:xfrm>
          <a:prstGeom prst="ellipse">
            <a:avLst/>
          </a:prstGeom>
          <a:solidFill>
            <a:srgbClr val="F25C2A"/>
          </a:solidFill>
          <a:ln w="12700">
            <a:solidFill>
              <a:srgbClr val="F25C2A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914400" y="5047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gaming days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4288536" y="4361688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1"/>
          <p:cNvSpPr txBox="1"/>
          <p:nvPr/>
        </p:nvSpPr>
        <p:spPr>
          <a:xfrm>
            <a:off x="4517136" y="4480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4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REGULARITY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4535424" y="4837176"/>
            <a:ext cx="100584" cy="100584"/>
          </a:xfrm>
          <a:prstGeom prst="ellipse">
            <a:avLst/>
          </a:prstGeom>
          <a:solidFill>
            <a:srgbClr val="F25C2A"/>
          </a:solidFill>
          <a:ln w="12700">
            <a:solidFill>
              <a:srgbClr val="F25C2A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4745736" y="4754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 variability</a:t>
            </a:r>
            <a:endParaRPr lang="en-US" sz="1400" dirty="0"/>
          </a:p>
        </p:txBody>
      </p:sp>
      <p:sp>
        <p:nvSpPr>
          <p:cNvPr id="43" name="Shape 34"/>
          <p:cNvSpPr/>
          <p:nvPr/>
        </p:nvSpPr>
        <p:spPr>
          <a:xfrm>
            <a:off x="4535424" y="5129784"/>
            <a:ext cx="100584" cy="100584"/>
          </a:xfrm>
          <a:prstGeom prst="ellipse">
            <a:avLst/>
          </a:prstGeom>
          <a:solidFill>
            <a:srgbClr val="F25C2A"/>
          </a:solidFill>
          <a:ln w="12700">
            <a:solidFill>
              <a:srgbClr val="F25C2A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4745736" y="5047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days</a:t>
            </a:r>
            <a:endParaRPr lang="en-US" sz="1400" dirty="0"/>
          </a:p>
        </p:txBody>
      </p:sp>
      <p:sp>
        <p:nvSpPr>
          <p:cNvPr id="45" name="Shape 36"/>
          <p:cNvSpPr/>
          <p:nvPr/>
        </p:nvSpPr>
        <p:spPr>
          <a:xfrm>
            <a:off x="8119872" y="4361688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Text 37"/>
          <p:cNvSpPr txBox="1"/>
          <p:nvPr/>
        </p:nvSpPr>
        <p:spPr>
          <a:xfrm>
            <a:off x="8348472" y="4480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4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&amp; TIMING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8366760" y="4837176"/>
            <a:ext cx="100584" cy="100584"/>
          </a:xfrm>
          <a:prstGeom prst="ellipse">
            <a:avLst/>
          </a:prstGeom>
          <a:solidFill>
            <a:srgbClr val="F25C2A"/>
          </a:solidFill>
          <a:ln w="12700">
            <a:solidFill>
              <a:srgbClr val="F25C2A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8577072" y="4754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sessions</a:t>
            </a:r>
            <a:endParaRPr lang="en-US" sz="1400" dirty="0"/>
          </a:p>
        </p:txBody>
      </p:sp>
      <p:sp>
        <p:nvSpPr>
          <p:cNvPr id="49" name="Shape 40"/>
          <p:cNvSpPr/>
          <p:nvPr/>
        </p:nvSpPr>
        <p:spPr>
          <a:xfrm>
            <a:off x="8366760" y="5129784"/>
            <a:ext cx="100584" cy="100584"/>
          </a:xfrm>
          <a:prstGeom prst="ellipse">
            <a:avLst/>
          </a:prstGeom>
          <a:solidFill>
            <a:srgbClr val="F25C2A"/>
          </a:solidFill>
          <a:ln w="12700">
            <a:solidFill>
              <a:srgbClr val="F25C2A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8577072" y="5047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play</a:t>
            </a:r>
            <a:endParaRPr lang="en-US" sz="1400" dirty="0"/>
          </a:p>
        </p:txBody>
      </p:sp>
      <p:sp>
        <p:nvSpPr>
          <p:cNvPr id="51" name="Shape 42"/>
          <p:cNvSpPr/>
          <p:nvPr/>
        </p:nvSpPr>
        <p:spPr>
          <a:xfrm>
            <a:off x="457200" y="5532120"/>
            <a:ext cx="11274552" cy="868680"/>
          </a:xfrm>
          <a:prstGeom prst="roundRect">
            <a:avLst>
              <a:gd name="adj" fmla="val 12632"/>
            </a:avLst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777240" y="5687568"/>
            <a:ext cx="548640" cy="548640"/>
          </a:xfrm>
          <a:prstGeom prst="ellipse">
            <a:avLst/>
          </a:prstGeom>
          <a:solidFill>
            <a:srgbClr val="F25C2A"/>
          </a:solidFill>
          <a:ln w="12700">
            <a:solidFill>
              <a:srgbClr val="F25C2A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824728"/>
            <a:ext cx="274320" cy="27432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1600200" y="56327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GOAL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1600200" y="587044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behavioral signals before a later increase in problematic gaming symptoms — then explain which patterns mattered most.</a:t>
            </a:r>
            <a:endParaRPr lang="en-US" sz="1400" dirty="0"/>
          </a:p>
        </p:txBody>
      </p:sp>
      <p:sp>
        <p:nvSpPr>
          <p:cNvPr id="56" name="Text 46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4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OPEN PLAY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Longitudinal, multi-platform gaming data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with psychological measures.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5479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801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4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~2,000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801368"/>
            <a:ext cx="1822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04872"/>
            <a:ext cx="31482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gaming behavior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1279" y="1691640"/>
            <a:ext cx="3605479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19879" y="1801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4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839919" y="1801368"/>
            <a:ext cx="2873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platforms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19879" y="2404872"/>
            <a:ext cx="31482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• iOS • Nintendo • Steam • Xbox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5358" y="1691640"/>
            <a:ext cx="3605479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53958" y="1801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4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673998" y="1801368"/>
            <a:ext cx="2873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Disorder measurements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53958" y="2404872"/>
            <a:ext cx="31482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and Wave 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44805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0" descr="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3108960"/>
            <a:ext cx="3730752" cy="29260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60807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of daily gaming behavior tracked over time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120640" y="2971800"/>
            <a:ext cx="6611112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44068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structure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222492" y="4206240"/>
            <a:ext cx="4407408" cy="0"/>
          </a:xfrm>
          <a:prstGeom prst="line">
            <a:avLst/>
          </a:prstGeom>
          <a:noFill/>
          <a:ln w="38100">
            <a:solidFill>
              <a:srgbClr val="D5DB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56732" y="3840480"/>
            <a:ext cx="731520" cy="731520"/>
          </a:xfrm>
          <a:prstGeom prst="ellipse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612" y="402336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16652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5262372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Gaming Disorder symptoms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490972" y="574243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8E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490972" y="5742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8060436" y="3840480"/>
            <a:ext cx="731520" cy="731520"/>
          </a:xfrm>
          <a:prstGeom prst="ellipse">
            <a:avLst/>
          </a:prstGeom>
          <a:solidFill>
            <a:srgbClr val="F25C2A"/>
          </a:solidFill>
          <a:ln w="12700">
            <a:solidFill>
              <a:srgbClr val="F25C2A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316" y="402336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420356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waves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7466076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gaming behavior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7694676" y="574243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694676" y="5742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10264140" y="3840480"/>
            <a:ext cx="731520" cy="731520"/>
          </a:xfrm>
          <a:prstGeom prst="ellipse">
            <a:avLst/>
          </a:prstGeom>
          <a:solidFill>
            <a:srgbClr val="0B1B3A"/>
          </a:solidFill>
          <a:ln w="12700">
            <a:solidFill>
              <a:srgbClr val="0B1B3A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7020" y="4023360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624060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6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9669780" y="5029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Gaming Disorder symptoms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9898380" y="574243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8E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9898380" y="5742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11274552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Problematic Gaming Early Warning</dc:title>
  <dc:subject>PptxGenJS Presentation</dc:subject>
  <dc:creator>PptxGenJS</dc:creator>
  <cp:lastModifiedBy>PptxGenJS</cp:lastModifiedBy>
  <cp:revision>1</cp:revision>
  <dcterms:created xsi:type="dcterms:W3CDTF">2026-09-30T14:43:32Z</dcterms:created>
  <dcterms:modified xsi:type="dcterms:W3CDTF">2026-09-30T14:43:32Z</dcterms:modified>
</cp:coreProperties>
</file>